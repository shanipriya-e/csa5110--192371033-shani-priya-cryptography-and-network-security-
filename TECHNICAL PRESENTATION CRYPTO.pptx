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Instrument Sans Bold" panose="020B0604020202020204" charset="0"/>
      <p:regular r:id="rId11"/>
    </p:embeddedFont>
    <p:embeddedFont>
      <p:font typeface="Instrument Sans Medium" panose="020B0604020202020204" charset="0"/>
      <p:regular r:id="rId12"/>
    </p:embeddedFont>
    <p:embeddedFont>
      <p:font typeface="Instrument Sans SemiBold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i Priya" userId="5e67569e2f242762" providerId="LiveId" clId="{4BDCEC0E-A1A9-4E53-AD45-92219BAA59E4}"/>
    <pc:docChg chg="addSld modSld">
      <pc:chgData name="Shani Priya" userId="5e67569e2f242762" providerId="LiveId" clId="{4BDCEC0E-A1A9-4E53-AD45-92219BAA59E4}" dt="2026-07-28T16:48:16.890" v="5" actId="14100"/>
      <pc:docMkLst>
        <pc:docMk/>
      </pc:docMkLst>
      <pc:sldChg chg="addSp modSp new mod">
        <pc:chgData name="Shani Priya" userId="5e67569e2f242762" providerId="LiveId" clId="{4BDCEC0E-A1A9-4E53-AD45-92219BAA59E4}" dt="2026-07-28T16:48:16.890" v="5" actId="14100"/>
        <pc:sldMkLst>
          <pc:docMk/>
          <pc:sldMk cId="381102278" sldId="263"/>
        </pc:sldMkLst>
        <pc:picChg chg="add mod">
          <ac:chgData name="Shani Priya" userId="5e67569e2f242762" providerId="LiveId" clId="{4BDCEC0E-A1A9-4E53-AD45-92219BAA59E4}" dt="2026-07-28T16:48:16.890" v="5" actId="14100"/>
          <ac:picMkLst>
            <pc:docMk/>
            <pc:sldMk cId="381102278" sldId="263"/>
            <ac:picMk id="3" creationId="{703531FA-CC7F-6261-1857-39460ECCE25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4166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2E3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301279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Security Attacks, Threats, Risks and Their Impact on Security Goals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842840"/>
            <a:ext cx="4722763" cy="1163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Cryptography &amp; Network Security(CSA5110)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Presented by:  E.Shani Priya(192371033)</a:t>
            </a:r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latin typeface="Instrument Sans Medium" pitchFamily="34" charset="0"/>
              </a:rPr>
              <a:t>                                   Chandra Kala Toram(192372224)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152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Cryptography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66960" y="111210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Cryptography's Role: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445270"/>
            <a:ext cx="815176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Encryption — protects confidentiality (AES for symmetric, RSA/ECC for asymmetric)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Hash Functions — provide integrity checks (SHA-256 detects tampering)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Digital Signatures &amp; PKI — ensure authentication and non-repudiation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384301"/>
            <a:ext cx="4004965" cy="1861319"/>
          </a:xfrm>
          <a:prstGeom prst="roundRect">
            <a:avLst>
              <a:gd name="adj" fmla="val 319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8C9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6927" y="2545110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Technical Measures: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6927" y="2851621"/>
            <a:ext cx="3683347" cy="123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Strong, up-to-date encryption and secure key management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Firewalls, IDS/IPS, antivirus, secure configurations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Timely patching, backups, redundancy, recovery plans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2384301"/>
            <a:ext cx="4005039" cy="1861319"/>
          </a:xfrm>
          <a:prstGeom prst="roundRect">
            <a:avLst>
              <a:gd name="adj" fmla="val 319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8C9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3651" y="2545110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User &amp; Organizational Measures: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03651" y="2851621"/>
            <a:ext cx="3683422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Strong passwords, MFA, least privilege access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Employee awareness training and phishing drills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Clear policies, incident response, regular audits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6119" y="440508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Prevention through layered defenses is far less costly than recovery after a breach.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7612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Security Goals: The CIA Triad &amp; Attack Impact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127150"/>
            <a:ext cx="2504405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Confidentiality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96119" y="1451744"/>
            <a:ext cx="2504405" cy="710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spcAft>
                <a:spcPts val="850"/>
              </a:spcAft>
              <a:buNone/>
            </a:pPr>
            <a:r>
              <a:rPr lang="en-US" sz="10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protect data from unauthorized disclosure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Controls: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96119" y="2114067"/>
            <a:ext cx="2504405" cy="6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encryption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access control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least privilege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96119" y="3066306"/>
            <a:ext cx="296160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Affected by: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6119" y="3375571"/>
            <a:ext cx="2504405" cy="929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Phishing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Malware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SQL Injection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MITM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24076" y="1127150"/>
            <a:ext cx="2504405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Integrity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24076" y="1451744"/>
            <a:ext cx="2504405" cy="510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spcAft>
                <a:spcPts val="850"/>
              </a:spcAft>
              <a:buNone/>
            </a:pPr>
            <a:r>
              <a:rPr lang="en-US" sz="10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ensure accuracy and immutability of data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Controls: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24076" y="2070274"/>
            <a:ext cx="2504405" cy="929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hash functions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MACs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digital signatures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secure logging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24076" y="3108424"/>
            <a:ext cx="296160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Affected by: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24076" y="3417689"/>
            <a:ext cx="2504405" cy="929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Phishing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Malware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SQL Injection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MITM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52034" y="1127150"/>
            <a:ext cx="2504405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Availability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152034" y="1434108"/>
            <a:ext cx="2504405" cy="710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spcAft>
                <a:spcPts val="850"/>
              </a:spcAft>
              <a:buNone/>
            </a:pPr>
            <a:r>
              <a:rPr lang="en-US" sz="10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ensure systems and data are accessible when needed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Controls: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43476" y="2218471"/>
            <a:ext cx="2504405" cy="929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backups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redundancy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DDoS defenses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disaster recovery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52034" y="3150542"/>
            <a:ext cx="296160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Affected by: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43475" y="3417689"/>
            <a:ext cx="2504405" cy="443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Ransomware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DDoS attacks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6119" y="4525045"/>
            <a:ext cx="860896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Consequences:</a:t>
            </a: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financial loss, data breaches, service disruption, identity theft, reputational damage, regulatory penalties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44005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Classification of Security Attacks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215272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Passive Attacks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515939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— observe data without altering 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870299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Eavesdropping and traffic analysis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Hard to detect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Mitigations: strong encryption, link-layer protection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215272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Active Attacks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515939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— alter or disrupt data and services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2870299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Masquerade, replay, modification, denial-of-service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Easier to detect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Mitigations: authentication, integrity checks, IDS/IPS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410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Common Cyber Attacks Overview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170608"/>
            <a:ext cx="4004965" cy="10817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1331416"/>
            <a:ext cx="36071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Phishing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3127" y="1609576"/>
            <a:ext cx="36071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— </a:t>
            </a:r>
            <a:r>
              <a:rPr lang="en-US" sz="12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social engineering to harvest credentials or deliver malware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1170608"/>
            <a:ext cx="4005039" cy="10817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79851" y="1331416"/>
            <a:ext cx="3607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Malware &amp; Ransomware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879851" y="1637928"/>
            <a:ext cx="36072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— </a:t>
            </a:r>
            <a:r>
              <a:rPr lang="en-US" sz="12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malicious software that steals data, disrupts services, or encrypts files for ransom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394124"/>
            <a:ext cx="4004965" cy="10817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3127" y="2554932"/>
            <a:ext cx="36071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SQL Injection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33127" y="2861444"/>
            <a:ext cx="36071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— injects malicious queries to read or modify databases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2394124"/>
            <a:ext cx="4005039" cy="108175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79851" y="2554932"/>
            <a:ext cx="3607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XSS (Cross-Site Scripting)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879851" y="2861444"/>
            <a:ext cx="36072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— </a:t>
            </a:r>
            <a:r>
              <a:rPr lang="en-US" sz="12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injects scripts into web pages to hijack sessions or deface pages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617640"/>
            <a:ext cx="4004965" cy="108175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33127" y="3778448"/>
            <a:ext cx="36071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MITM (Man-in-the-Middle)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656927" y="4091405"/>
            <a:ext cx="3607147" cy="327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— </a:t>
            </a:r>
            <a:r>
              <a:rPr lang="en-US" sz="12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intercepts or alters communication between parties</a:t>
            </a:r>
            <a:endParaRPr lang="en-US" sz="12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3617640"/>
            <a:ext cx="4005039" cy="1081757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879851" y="3778448"/>
            <a:ext cx="3607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DDoS &amp; Brute Force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4879851" y="4084960"/>
            <a:ext cx="36072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— </a:t>
            </a:r>
            <a:r>
              <a:rPr lang="en-US" sz="12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overloads services or systematically guesses credentials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7595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Information Security &amp; Threat Landscape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3154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Information security protects data and systems from unauthorized access, misuse, alteration, disclosure, or destruction. Key concepts: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344638"/>
            <a:ext cx="2622724" cy="1279996"/>
          </a:xfrm>
          <a:prstGeom prst="roundRect">
            <a:avLst>
              <a:gd name="adj" fmla="val 4652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2640" y="2491160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chemeClr val="accent1">
                    <a:lumMod val="50000"/>
                  </a:schemeClr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Threats</a:t>
            </a:r>
            <a:endParaRPr lang="en-US" sz="135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2640" y="2797671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Potential events that can exploit weaknesses (malware, phishing, insider threats, disasters)</a:t>
            </a:r>
            <a:endParaRPr lang="en-US" sz="11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260601" y="2344638"/>
            <a:ext cx="2622724" cy="1279996"/>
          </a:xfrm>
          <a:prstGeom prst="roundRect">
            <a:avLst>
              <a:gd name="adj" fmla="val 4652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7122" y="2491160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chemeClr val="accent1">
                    <a:lumMod val="50000"/>
                  </a:schemeClr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Vulnerabilities</a:t>
            </a:r>
            <a:endParaRPr lang="en-US" sz="135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407122" y="2797671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Weaknesses in hardware, software, or human behavior (weak passwords, unpatched systems)</a:t>
            </a:r>
            <a:endParaRPr lang="en-US" sz="11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25083" y="2344638"/>
            <a:ext cx="2622724" cy="1279996"/>
          </a:xfrm>
          <a:prstGeom prst="roundRect">
            <a:avLst>
              <a:gd name="adj" fmla="val 4652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1605" y="2491160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chemeClr val="accent1">
                    <a:lumMod val="50000"/>
                  </a:schemeClr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Risk</a:t>
            </a:r>
            <a:endParaRPr lang="en-US" sz="135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171605" y="2797671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impact when a threat exploits a vulnerability (data loss, service outage)</a:t>
            </a:r>
            <a:endParaRPr lang="en-US" sz="11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267519" y="3784104"/>
            <a:ext cx="8608963" cy="283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50" b="1" dirty="0">
                <a:solidFill>
                  <a:schemeClr val="accent1">
                    <a:lumMod val="50000"/>
                  </a:schemeClr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The relationship: Threat + Vulnerability = Risk</a:t>
            </a:r>
            <a:endParaRPr lang="en-US" sz="135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1453"/>
            <a:ext cx="8151763" cy="366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Conclusion: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641" y="917069"/>
            <a:ext cx="2666256" cy="19169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66776" y="1313036"/>
            <a:ext cx="124867" cy="1561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83034" y="1313036"/>
            <a:ext cx="2429470" cy="325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Threats, Vulnerabilities, and Risks Form a Critical Chain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83034" y="1641091"/>
            <a:ext cx="2429470" cy="1011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Threats are potential dangers that exploit vulnerabilities in systems and processes. When a threat successfully exploits a vulnerability, it creates a risk that can result in significant harm. 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35993" y="961917"/>
            <a:ext cx="2346924" cy="191698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09455" y="1313036"/>
            <a:ext cx="124867" cy="1561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3392887" y="1384197"/>
            <a:ext cx="2429545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Security Attacks Target the CIA Triad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3486748" y="1660387"/>
            <a:ext cx="2129210" cy="8666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Every major cyber attack—from phishing to DDoS—compromises one or more pillars of the CIA Triad (Confidentiality, Integrity, Availability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81626" y="917069"/>
            <a:ext cx="2666256" cy="191698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52208" y="1313036"/>
            <a:ext cx="124867" cy="1561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6099944" y="1348322"/>
            <a:ext cx="2429470" cy="325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Diverse Attack Vectors Require Layered Defense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6131496" y="1760153"/>
            <a:ext cx="2429470" cy="8666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Passive attacks like eavesdropping and active attacks like malware each demand different mitigation strategies. 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037733"/>
            <a:ext cx="3415481" cy="167431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452427" y="3306440"/>
            <a:ext cx="124867" cy="1561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4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501716" y="3411059"/>
            <a:ext cx="2985032" cy="264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Cryptography is a Cornerstone, Not a Complete Solution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631514" y="3675823"/>
            <a:ext cx="3144689" cy="833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Encryption, hashing, and digital signatures are vital tools for protecting confidentiality, integrity, and authentication. However, cryptography alone cannot prevent all attacks.</a:t>
            </a:r>
            <a:endParaRPr lang="en-US" sz="11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0175" y="3065561"/>
            <a:ext cx="3800848" cy="164648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566483" y="3306440"/>
            <a:ext cx="124867" cy="1561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5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4711639" y="3419961"/>
            <a:ext cx="3800847" cy="325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Prevention and Preparedness Are Far More Cost-Effective Than Recovery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4739436" y="3767363"/>
            <a:ext cx="3249448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Investing in strong security measures, updates, employee awareness, and disaster recovery plans is cheaper than dealing with breaches, data loss, and reputational damage. 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3531FA-CC7F-6261-1857-39460ECCE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657" y="116114"/>
            <a:ext cx="4309155" cy="468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2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646</Words>
  <Application>Microsoft Office PowerPoint</Application>
  <PresentationFormat>On-screen Show (16:9)</PresentationFormat>
  <Paragraphs>109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Instrument Sans Bold</vt:lpstr>
      <vt:lpstr>Instrument Sans SemiBold</vt:lpstr>
      <vt:lpstr>Instrument Sans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Shani Priya</dc:creator>
  <cp:lastModifiedBy>Shani Priya</cp:lastModifiedBy>
  <cp:revision>4</cp:revision>
  <dcterms:created xsi:type="dcterms:W3CDTF">2026-07-24T07:18:39Z</dcterms:created>
  <dcterms:modified xsi:type="dcterms:W3CDTF">2026-07-28T16:48:22Z</dcterms:modified>
</cp:coreProperties>
</file>